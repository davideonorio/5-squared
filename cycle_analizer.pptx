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here. Don't name the source yet — that's your line. The deck explains the concept end to end: how to pull one dominant cycle out of noisy price data, four steps.</a:t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primer so the rest of the deck has vocabulary. Any cycle is fully described by three numbers: length (wavelength), amplitude (size of the swing), and phase (where in the swing we are right now). The whole algorithm exists to estimate these three for the dominant cycle.</a:t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map. Four steps, each feeding the next: clean the data, find candidate cycles, test which are genuine, rank by real influence. Note the in→out under each card — the output of one step is the input of the next.</a:t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one, the key visual. An HP filter splits the series into a smooth trend plus a cyclic remainder. Subtract the trend and you get pure oscillation — the input every later step needs. Show raw+trend on the left, detrended on the right.</a:t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technical heart of step one. The HP filter has one smoothing parameter, lambda. It decides how stiff the trend is — and it strongly shapes which cycles survive. Too low absorbs real cycles; too high leaks trend and can manufacture spurious cycles. Tune it to the data's frequency, then cross-check in step 3.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honest caveat that motivates step 3. Because the filter reshapes the data, a wiggle in the residual is not proof of a real cycle — HP filtering can produce cyclic behaviour even when none exists. So every candidate stays provisional. Cross-correlation checks plus the genuineness test catch the fakes.</a:t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two. Sweep every candidate wavelength and measure how strongly the data oscillates at each. Instead of a blanket FFT, use a targeted DFT that evaluates one frequency at a time — efficient and accurate on short, noisy data. Its original job was pulling a known tone out of noise, which is exactly the market problem. Studies show it beats wavelets and MESA when noise outweighs signal.</a:t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result of the sweep is a spectrum: strength on the y-axis, cycle length on the x-axis. Peaks are the candidate cycles. Each peak comes with three readings — its length, its amplitude, and its phase.</a:t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each candidate we record three things: length, amplitude, and — crucially — the phase at the last bar, not the historical average. A second pass on a short recent window pins down where the cycle is right now. That 'now' phase is what makes a forward projection trustworthy.</a:t>
            </a:r>
            <a:endParaRPr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three. Detection happily returns cycles — including detrending artifacts and one-off flukes from news. Validation is the gate that keeps only cycles with stable, repeating structure. We're guarding against three things: HP artifacts, one-time event spikes, and short-lived patterns.</a:t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the test works, explained plainly. Slice the series into consecutive windows, each one cycle-length long, and check whether the cycle shows up with consistent amplitude and phase in every window. Genuine cycles are persistent; flukes appear once. The test returns a number from 0 to 1 — the probability the pattern is just chance. Lower is more reliable.</a:t>
            </a:r>
            <a:endParaRPr/>
          </a:p>
        </p:txBody>
      </p:sp>
      <p:sp>
        <p:nvSpPr>
          <p:cNvPr id="276" name="Google Shape;2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 the raw score into a human-readable keep/drop call. Genuine % = (1 − score) × 100. 0% is random, 100% is rock-solid. The recommended cutoff is about 49%: keep cycles above it, discard the rest before any forecasting.</a:t>
            </a:r>
            <a:endParaRPr/>
          </a:p>
        </p:txBody>
      </p:sp>
      <p:sp>
        <p:nvSpPr>
          <p:cNvPr id="298" name="Google Shape;2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four. The survivors are all real — but amplitude alone doesn't say which drives price day to day. The right measure is force per bar: strength = amplitude ÷ length. Walk the two examples — the shorter cycle wins despite the smaller amplitude.</a:t>
            </a:r>
            <a:endParaRPr/>
          </a:p>
        </p:txBody>
      </p:sp>
      <p:sp>
        <p:nvSpPr>
          <p:cNvPr id="326" name="Google Shape;3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Rank every genuine cycle by strength. The one on top is the dominant cycle — that's the output of the whole engine.</a:t>
            </a:r>
            <a:endParaRPr/>
          </a:p>
        </p:txBody>
      </p:sp>
      <p:sp>
        <p:nvSpPr>
          <p:cNvPr id="361" name="Google Shape;36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payoff. The top cycle hands you two things — its length (the rhythm) and its phase right now (where we are in the swing) — enough to project the rhythm forward onto the right side of the chart. That projected dominant cycle is the takeaway.</a:t>
            </a:r>
            <a:endParaRPr/>
          </a:p>
        </p:txBody>
      </p:sp>
      <p:sp>
        <p:nvSpPr>
          <p:cNvPr id="379" name="Google Shape;37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18"/>
            <a:ext cx="18288002" cy="1028811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1238250" y="1143000"/>
            <a:ext cx="273711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SIGNAL / NOISE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238250" y="1695450"/>
            <a:ext cx="15811500" cy="9525"/>
          </a:xfrm>
          <a:prstGeom prst="rect">
            <a:avLst/>
          </a:prstGeom>
          <a:solidFill>
            <a:srgbClr val="CDB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115050" y="2803063"/>
            <a:ext cx="10842000" cy="24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10800"/>
              <a:buFont typeface="Arial"/>
              <a:buNone/>
            </a:pPr>
            <a:r>
              <a:rPr b="1" lang="en-US" sz="7900">
                <a:solidFill>
                  <a:srgbClr val="0E141B"/>
                </a:solidFill>
              </a:rPr>
              <a:t>READING THE MARKET'S HIDDEN CYCLE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238250" y="7423175"/>
            <a:ext cx="127125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A four-step method that separates real cycles from the random noise intrinsic in the market, and ranks the ones that actually move prices.</a:t>
            </a:r>
            <a:endParaRPr sz="2850">
              <a:solidFill>
                <a:srgbClr val="463F3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50">
              <a:solidFill>
                <a:srgbClr val="463F3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850"/>
              <a:buFont typeface="Georgia"/>
              <a:buNone/>
            </a:pPr>
            <a:r>
              <a:t/>
            </a:r>
            <a:endParaRPr sz="2850">
              <a:solidFill>
                <a:srgbClr val="463F3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238250" y="9170670"/>
            <a:ext cx="708292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01 DETREND · 02 DETECT · 03 VALIDATE · 04 RANK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6234767" y="9170670"/>
            <a:ext cx="89118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01 / 16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1238250" y="838200"/>
            <a:ext cx="47865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PRIMER · ANATOMY OF A CYCLE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6097845" y="838200"/>
            <a:ext cx="10281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03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1238250" y="133350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1238250" y="1733550"/>
            <a:ext cx="173926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E141B"/>
                </a:solidFill>
              </a:rPr>
              <a:t>Three numbers can describe any cycle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400"/>
              <a:buFont typeface="Georgia"/>
              <a:buNone/>
            </a:pPr>
            <a:r>
              <a:t/>
            </a:r>
            <a:endParaRPr b="1" sz="5400">
              <a:solidFill>
                <a:srgbClr val="22271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238250" y="3285172"/>
            <a:ext cx="4953000" cy="1712700"/>
          </a:xfrm>
          <a:prstGeom prst="roundRect">
            <a:avLst>
              <a:gd fmla="val 3337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1569720" y="3578543"/>
            <a:ext cx="4719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2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2F6BF2"/>
                </a:solidFill>
                <a:latin typeface="Courier New"/>
                <a:ea typeface="Courier New"/>
                <a:cs typeface="Courier New"/>
                <a:sym typeface="Courier New"/>
              </a:rPr>
              <a:t>LENGTH · WAVELENGTH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569720" y="3932872"/>
            <a:ext cx="44187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7313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7313D"/>
                </a:solidFill>
                <a:latin typeface="Arial"/>
                <a:ea typeface="Arial"/>
                <a:cs typeface="Arial"/>
                <a:sym typeface="Arial"/>
              </a:rPr>
              <a:t>How many bars one full swing takes — the period.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238250" y="5188268"/>
            <a:ext cx="4953000" cy="1712700"/>
          </a:xfrm>
          <a:prstGeom prst="roundRect">
            <a:avLst>
              <a:gd fmla="val 3337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1569720" y="5481638"/>
            <a:ext cx="4719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2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2F6BF2"/>
                </a:solidFill>
                <a:latin typeface="Courier New"/>
                <a:ea typeface="Courier New"/>
                <a:cs typeface="Courier New"/>
                <a:sym typeface="Courier New"/>
              </a:rPr>
              <a:t>AMPLITUDE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569720" y="5835968"/>
            <a:ext cx="44187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7313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7313D"/>
                </a:solidFill>
                <a:latin typeface="Arial"/>
                <a:ea typeface="Arial"/>
                <a:cs typeface="Arial"/>
                <a:sym typeface="Arial"/>
              </a:rPr>
              <a:t>How big the swing is, peak to trough.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1238250" y="7091363"/>
            <a:ext cx="4953000" cy="1697400"/>
          </a:xfrm>
          <a:prstGeom prst="roundRect">
            <a:avLst>
              <a:gd fmla="val 3367" name="adj"/>
            </a:avLst>
          </a:prstGeom>
          <a:solidFill>
            <a:srgbClr val="0E14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562100" y="7377113"/>
            <a:ext cx="4735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5B9BFF"/>
                </a:solidFill>
                <a:latin typeface="Courier New"/>
                <a:ea typeface="Courier New"/>
                <a:cs typeface="Courier New"/>
                <a:sym typeface="Courier New"/>
              </a:rPr>
              <a:t>PHASE — RIGHT NOW</a:t>
            </a:r>
            <a:endParaRPr b="0" i="0" sz="15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562100" y="7731443"/>
            <a:ext cx="44346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EEF2F7"/>
                </a:solidFill>
                <a:latin typeface="Arial"/>
                <a:ea typeface="Arial"/>
                <a:cs typeface="Arial"/>
                <a:sym typeface="Arial"/>
              </a:rPr>
              <a:t>Where we sit in the swing at the latest bar.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724650" y="3369945"/>
            <a:ext cx="10325100" cy="5334000"/>
          </a:xfrm>
          <a:prstGeom prst="roundRect">
            <a:avLst>
              <a:gd fmla="val 1071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7151370" y="3739515"/>
            <a:ext cx="104187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6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B97A6"/>
                </a:solidFill>
                <a:latin typeface="Courier New"/>
                <a:ea typeface="Courier New"/>
                <a:cs typeface="Courier New"/>
                <a:sym typeface="Courier New"/>
              </a:rPr>
              <a:t>ONE IDEALISED CYCLE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370" y="4124325"/>
            <a:ext cx="9471658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1238250" y="838200"/>
            <a:ext cx="19814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THE METHOD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6096059" y="838200"/>
            <a:ext cx="10298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04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238250" y="133350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1238250" y="1695450"/>
            <a:ext cx="13620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700"/>
              <a:buFont typeface="Georgia"/>
              <a:buNone/>
            </a:pPr>
            <a:r>
              <a:rPr b="1" i="0" lang="en-US" sz="57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Four steps to one dominant cycle.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238250" y="2647950"/>
            <a:ext cx="12263438" cy="9220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Each step either cleans up or narrows down what the next one sees. The output of one is the input of the next.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238250" y="5530215"/>
            <a:ext cx="3167100" cy="3619500"/>
          </a:xfrm>
          <a:prstGeom prst="roundRect">
            <a:avLst>
              <a:gd fmla="val 1805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626870" y="5995035"/>
            <a:ext cx="2628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F6BF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626870" y="6486525"/>
            <a:ext cx="26289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E141B"/>
                </a:solidFill>
                <a:latin typeface="Arial"/>
                <a:ea typeface="Arial"/>
                <a:cs typeface="Arial"/>
                <a:sym typeface="Arial"/>
              </a:rPr>
              <a:t>Detrend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626870" y="7484745"/>
            <a:ext cx="2466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Remove the long drift so only the swings remain.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672013" y="7012305"/>
            <a:ext cx="5907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4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9AA6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453063" y="5530215"/>
            <a:ext cx="3167100" cy="3619500"/>
          </a:xfrm>
          <a:prstGeom prst="roundRect">
            <a:avLst>
              <a:gd fmla="val 1805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841682" y="5995035"/>
            <a:ext cx="2628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F6BF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41682" y="6486525"/>
            <a:ext cx="26289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E141B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841682" y="7084695"/>
            <a:ext cx="2466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Scan every cycle length; find the ones that repeat strongly.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8886825" y="7012305"/>
            <a:ext cx="5907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4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9AA6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9667875" y="5530215"/>
            <a:ext cx="3167100" cy="3619500"/>
          </a:xfrm>
          <a:prstGeom prst="roundRect">
            <a:avLst>
              <a:gd fmla="val 1805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10056495" y="5995035"/>
            <a:ext cx="2628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F6BF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10056495" y="6486525"/>
            <a:ext cx="26289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E141B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10056495" y="7484745"/>
            <a:ext cx="2466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Test each one: genuine rhythm, or a fluke?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13101638" y="7012305"/>
            <a:ext cx="5907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4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9AA6B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3882688" y="5530215"/>
            <a:ext cx="3167100" cy="3619500"/>
          </a:xfrm>
          <a:prstGeom prst="roundRect">
            <a:avLst>
              <a:gd fmla="val 1805" name="adj"/>
            </a:avLst>
          </a:prstGeom>
          <a:solidFill>
            <a:srgbClr val="0E141B"/>
          </a:solidFill>
          <a:ln cap="flat" cmpd="sng" w="9525">
            <a:solidFill>
              <a:srgbClr val="0E14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4271308" y="5995035"/>
            <a:ext cx="26289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B9BFF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4271308" y="6486525"/>
            <a:ext cx="26289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4271308" y="7484745"/>
            <a:ext cx="2466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9C6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B9C6"/>
                </a:solidFill>
                <a:latin typeface="Arial"/>
                <a:ea typeface="Arial"/>
                <a:cs typeface="Arial"/>
                <a:sym typeface="Arial"/>
              </a:rPr>
              <a:t>Order survivors by how hard they move price.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1238250" y="762000"/>
            <a:ext cx="34626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01 · DETRENDING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6094989" y="762000"/>
            <a:ext cx="10309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05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1238250" y="1670685"/>
            <a:ext cx="1228487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1238250" y="1409700"/>
            <a:ext cx="130468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2752487" y="140970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122420" y="140970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687020" y="14097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1238250" y="2017395"/>
            <a:ext cx="82802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250"/>
              <a:buFont typeface="Georgia"/>
              <a:buNone/>
            </a:pP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Subtract the trend, keep the swing.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8724700" y="2022875"/>
            <a:ext cx="85422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325"/>
              <a:buFont typeface="Georgia"/>
              <a:buNone/>
            </a:pP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An </a:t>
            </a:r>
            <a:r>
              <a:rPr b="1" i="0" lang="en-US" sz="23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HP filter </a:t>
            </a: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splits the series into a smooth trend and a cyclic remainder. Subtract the trend and what's left is pure oscillation — the clean input every later step depends on.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1238250" y="3674745"/>
            <a:ext cx="76066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10134600" y="3674745"/>
            <a:ext cx="760666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1238250" y="762000"/>
            <a:ext cx="34626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01 · DETRENDING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16093440" y="762000"/>
            <a:ext cx="10325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06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238250" y="1651635"/>
            <a:ext cx="1228487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1238250" y="1390650"/>
            <a:ext cx="130468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752487" y="139065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122420" y="139065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687020" y="139065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238250" y="1960245"/>
            <a:ext cx="867270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250"/>
              <a:buFont typeface="Georgia"/>
              <a:buNone/>
            </a:pP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One dial changes everything: </a:t>
            </a:r>
            <a:r>
              <a:rPr b="1" i="0" lang="en-US" sz="5250" u="none" cap="none" strike="noStrike">
                <a:solidFill>
                  <a:srgbClr val="2C5142"/>
                </a:solidFill>
                <a:latin typeface="Georgia"/>
                <a:ea typeface="Georgia"/>
                <a:cs typeface="Georgia"/>
                <a:sym typeface="Georgia"/>
              </a:rPr>
              <a:t>λ</a:t>
            </a: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0191750" y="1989773"/>
            <a:ext cx="7063740" cy="1342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The filter has a single smoothing parameter — lambda. It sets how stiff the trend line is, and that choice </a:t>
            </a:r>
            <a:r>
              <a:rPr b="1" i="0" lang="en-US" sz="2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strongly shapes which cycles survive </a:t>
            </a:r>
            <a:r>
              <a:rPr b="0" i="0" lang="en-US" sz="225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into the residual.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238250" y="3484245"/>
            <a:ext cx="15811500" cy="1186339"/>
          </a:xfrm>
          <a:prstGeom prst="roundRect">
            <a:avLst>
              <a:gd fmla="val 6423" name="adj"/>
            </a:avLst>
          </a:prstGeom>
          <a:solidFill>
            <a:srgbClr val="2227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687025" y="3723295"/>
            <a:ext cx="166803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0EAD9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baseline="-25000" i="0" lang="en-US" sz="1875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τ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Σ (y</a:t>
            </a:r>
            <a:r>
              <a:rPr b="0" baseline="-25000" i="0" lang="en-US" sz="1875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− τ</a:t>
            </a:r>
            <a:r>
              <a:rPr b="0" baseline="-25000" i="0" lang="en-US" sz="1875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)² + </a:t>
            </a:r>
            <a:r>
              <a:rPr b="1" i="0" lang="en-US" sz="2250" u="none" cap="none" strike="noStrike">
                <a:solidFill>
                  <a:srgbClr val="C2A86B"/>
                </a:solidFill>
                <a:latin typeface="Arial"/>
                <a:ea typeface="Arial"/>
                <a:cs typeface="Arial"/>
                <a:sym typeface="Arial"/>
              </a:rPr>
              <a:t>λ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Σ [(τ</a:t>
            </a:r>
            <a:r>
              <a:rPr b="0" baseline="-25000" i="0" lang="en-US" sz="1875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t+1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− τ</a:t>
            </a:r>
            <a:r>
              <a:rPr b="0" baseline="-25000" i="0" lang="en-US" sz="1875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) − (τ</a:t>
            </a:r>
            <a:r>
              <a:rPr b="0" baseline="-25000" i="0" lang="en-US" sz="1875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− τ</a:t>
            </a:r>
            <a:r>
              <a:rPr b="0" baseline="-25000" i="0" lang="en-US" sz="1875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t−1</a:t>
            </a:r>
            <a:r>
              <a:rPr b="0" i="0" lang="en-US" sz="2250" u="none" cap="none" strike="noStrike">
                <a:solidFill>
                  <a:srgbClr val="F0EAD9"/>
                </a:solidFill>
                <a:latin typeface="Arial"/>
                <a:ea typeface="Arial"/>
                <a:cs typeface="Arial"/>
                <a:sym typeface="Arial"/>
              </a:rPr>
              <a:t>)]²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700925" y="4233600"/>
            <a:ext cx="4028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AD9"/>
              </a:buClr>
              <a:buSzPts val="1425"/>
              <a:buFont typeface="Georgia"/>
              <a:buNone/>
            </a:pPr>
            <a:r>
              <a:rPr b="0" i="0" lang="en-US" sz="1425" u="none" cap="none" strike="noStrike">
                <a:solidFill>
                  <a:srgbClr val="F0EAD9"/>
                </a:solidFill>
                <a:latin typeface="Georgia"/>
                <a:ea typeface="Georgia"/>
                <a:cs typeface="Georgia"/>
                <a:sym typeface="Georgia"/>
              </a:rPr>
              <a:t>fit term </a:t>
            </a:r>
            <a:r>
              <a:rPr b="0" i="0" lang="en-US" sz="1425" u="none" cap="none" strike="noStrike">
                <a:solidFill>
                  <a:srgbClr val="B3A88C"/>
                </a:solidFill>
                <a:latin typeface="Georgia"/>
                <a:ea typeface="Georgia"/>
                <a:cs typeface="Georgia"/>
                <a:sym typeface="Georgia"/>
              </a:rPr>
              <a:t>— keep the trend τ close to the data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9084798" y="4242450"/>
            <a:ext cx="4832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86B"/>
              </a:buClr>
              <a:buSzPts val="1425"/>
              <a:buFont typeface="Georgia"/>
              <a:buNone/>
            </a:pPr>
            <a:r>
              <a:rPr b="0" i="0" lang="en-US" sz="1425" u="none" cap="none" strike="noStrike">
                <a:solidFill>
                  <a:srgbClr val="C2A86B"/>
                </a:solidFill>
                <a:latin typeface="Georgia"/>
                <a:ea typeface="Georgia"/>
                <a:cs typeface="Georgia"/>
                <a:sym typeface="Georgia"/>
              </a:rPr>
              <a:t>smoothness term </a:t>
            </a:r>
            <a:r>
              <a:rPr b="0" i="0" lang="en-US" sz="1425" u="none" cap="none" strike="noStrike">
                <a:solidFill>
                  <a:srgbClr val="B3A88C"/>
                </a:solidFill>
                <a:latin typeface="Georgia"/>
                <a:ea typeface="Georgia"/>
                <a:cs typeface="Georgia"/>
                <a:sym typeface="Georgia"/>
              </a:rPr>
              <a:t>— </a:t>
            </a:r>
            <a:r>
              <a:rPr b="0" i="0" lang="en-US" sz="1425" u="none" cap="none" strike="noStrike">
                <a:solidFill>
                  <a:srgbClr val="C2A86B"/>
                </a:solidFill>
                <a:latin typeface="Arial"/>
                <a:ea typeface="Arial"/>
                <a:cs typeface="Arial"/>
                <a:sym typeface="Arial"/>
              </a:rPr>
              <a:t>λ </a:t>
            </a:r>
            <a:r>
              <a:rPr b="0" i="0" lang="en-US" sz="1425" u="none" cap="none" strike="noStrike">
                <a:solidFill>
                  <a:srgbClr val="B3A88C"/>
                </a:solidFill>
                <a:latin typeface="Georgia"/>
                <a:ea typeface="Georgia"/>
                <a:cs typeface="Georgia"/>
                <a:sym typeface="Georgia"/>
              </a:rPr>
              <a:t>weights how stiff the trend is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1238250" y="4822984"/>
            <a:ext cx="8252460" cy="9525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0031731" y="5040154"/>
            <a:ext cx="749498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FIG 03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15150941" y="5094447"/>
            <a:ext cx="104775" cy="104775"/>
          </a:xfrm>
          <a:prstGeom prst="roundRect">
            <a:avLst>
              <a:gd fmla="val 18182" name="adj"/>
            </a:avLst>
          </a:prstGeom>
          <a:noFill/>
          <a:ln cap="flat" cmpd="sng" w="15225">
            <a:solidFill>
              <a:srgbClr val="CBBF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10778669" y="6311979"/>
            <a:ext cx="5268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Same series, three values of λ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0799522" y="7407116"/>
            <a:ext cx="522716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overlay the residual at low / tuned / high λ to see how much it moves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1238250" y="838200"/>
            <a:ext cx="2668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01 · CAVEAT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16107013" y="838200"/>
            <a:ext cx="10189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07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1238250" y="13144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1238250" y="1746885"/>
            <a:ext cx="1228487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238250" y="1485900"/>
            <a:ext cx="130468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52487" y="148590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122420" y="148590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687020" y="14859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238250" y="2784515"/>
            <a:ext cx="1751886" cy="445770"/>
          </a:xfrm>
          <a:prstGeom prst="roundRect">
            <a:avLst>
              <a:gd fmla="val 8547" name="adj"/>
            </a:avLst>
          </a:prstGeom>
          <a:solidFill>
            <a:srgbClr val="ECE3D0"/>
          </a:solidFill>
          <a:ln cap="flat" cmpd="sng" w="9525">
            <a:solidFill>
              <a:srgbClr val="CDB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1398270" y="2877860"/>
            <a:ext cx="150804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WATCH OUT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1238250" y="3477935"/>
            <a:ext cx="7654347" cy="14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550"/>
              <a:buFont typeface="Georgia"/>
              <a:buNone/>
            </a:pPr>
            <a:r>
              <a:rPr b="1" i="0" lang="en-US" sz="55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Detrending can manufacture cycles.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238250" y="5145048"/>
            <a:ext cx="7654347" cy="1844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Because the filter reshapes the series, a wiggle in the residual </a:t>
            </a:r>
            <a:r>
              <a:rPr b="1" i="0" lang="en-US" sz="24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isn't proof </a:t>
            </a:r>
            <a:r>
              <a:rPr b="0" i="0" lang="en-US" sz="240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of a real cycle — HP filtering can produce cyclic behaviour even when none exists in the original data.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238250" y="7160538"/>
            <a:ext cx="7654347" cy="13115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A5240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5A5240"/>
                </a:solidFill>
                <a:latin typeface="Georgia"/>
                <a:ea typeface="Georgia"/>
                <a:cs typeface="Georgia"/>
                <a:sym typeface="Georgia"/>
              </a:rPr>
              <a:t>So every detected cycle stays a </a:t>
            </a:r>
            <a:r>
              <a:rPr b="0" i="1" lang="en-US" sz="2250" u="none" cap="none" strike="noStrike">
                <a:solidFill>
                  <a:srgbClr val="5A5240"/>
                </a:solidFill>
                <a:latin typeface="Georgia"/>
                <a:ea typeface="Georgia"/>
                <a:cs typeface="Georgia"/>
                <a:sym typeface="Georgia"/>
              </a:rPr>
              <a:t>candidate </a:t>
            </a:r>
            <a:r>
              <a:rPr b="0" i="0" lang="en-US" sz="2250" u="none" cap="none" strike="noStrike">
                <a:solidFill>
                  <a:srgbClr val="5A5240"/>
                </a:solidFill>
                <a:latin typeface="Georgia"/>
                <a:ea typeface="Georgia"/>
                <a:cs typeface="Georgia"/>
                <a:sym typeface="Georgia"/>
              </a:rPr>
              <a:t>. Cross-correlation checks and the genuineness test in Step 3 are what separate the real ones from filter artifacts.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0763891" y="4421140"/>
            <a:ext cx="495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Real cycle, or filter artifact?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10485108" y="5787390"/>
            <a:ext cx="5511189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detrended residual — which swings persist, which are noise?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1238250" y="762000"/>
            <a:ext cx="32512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02 · DETECTION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6091892" y="762000"/>
            <a:ext cx="103405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08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752487" y="1670685"/>
            <a:ext cx="1084183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2752487" y="1409700"/>
            <a:ext cx="116038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122420" y="140970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687020" y="14097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238250" y="2543651"/>
            <a:ext cx="8142923" cy="13820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Sweep every length; find what repeats.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238250" y="4154329"/>
            <a:ext cx="8142923" cy="1788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325"/>
              <a:buFont typeface="Georgia"/>
              <a:buNone/>
            </a:pP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Test each candidate wavelength and measure how strongly the residual oscillates there. Rather than a blanket transform, the scanner uses a </a:t>
            </a:r>
            <a:r>
              <a:rPr b="1" i="0" lang="en-US" sz="23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targeted DFT </a:t>
            </a: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that evaluates one frequency at a time.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238250" y="6171724"/>
            <a:ext cx="31503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2C5142"/>
                </a:solidFill>
                <a:latin typeface="Georgia"/>
                <a:ea typeface="Georgia"/>
                <a:cs typeface="Georgia"/>
                <a:sym typeface="Georgia"/>
              </a:rPr>
              <a:t>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648539" y="6171724"/>
            <a:ext cx="772032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Born to pull a </a:t>
            </a:r>
            <a:r>
              <a:rPr b="1" i="0" lang="en-US" sz="21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known tone out of noise </a:t>
            </a:r>
            <a:r>
              <a:rPr b="0" i="0" lang="en-US" sz="21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— the same shape as the market problem.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238250" y="7048024"/>
            <a:ext cx="31503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2C5142"/>
                </a:solidFill>
                <a:latin typeface="Georgia"/>
                <a:ea typeface="Georgia"/>
                <a:cs typeface="Georgia"/>
                <a:sym typeface="Georgia"/>
              </a:rPr>
              <a:t>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648539" y="7048024"/>
            <a:ext cx="7477137" cy="421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Accurate on </a:t>
            </a:r>
            <a:r>
              <a:rPr b="1" i="0" lang="en-US" sz="21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short, noisy </a:t>
            </a:r>
            <a:r>
              <a:rPr b="0" i="0" lang="en-US" sz="21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windows where a broad FFT smears.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238250" y="7564279"/>
            <a:ext cx="31503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2C5142"/>
                </a:solidFill>
                <a:latin typeface="Georgia"/>
                <a:ea typeface="Georgia"/>
                <a:cs typeface="Georgia"/>
                <a:sym typeface="Georgia"/>
              </a:rPr>
              <a:t>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648539" y="7564279"/>
            <a:ext cx="6692896" cy="421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Outperforms wavelets and MESA when </a:t>
            </a:r>
            <a:r>
              <a:rPr b="1" i="0" lang="en-US" sz="21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noise &gt; signal</a:t>
            </a:r>
            <a:r>
              <a:rPr b="0" i="0" lang="en-US" sz="21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238250" y="8232934"/>
            <a:ext cx="6584990" cy="441960"/>
          </a:xfrm>
          <a:prstGeom prst="roundRect">
            <a:avLst>
              <a:gd fmla="val 8621" name="adj"/>
            </a:avLst>
          </a:prstGeom>
          <a:noFill/>
          <a:ln cap="flat" cmpd="sng" w="9525">
            <a:solidFill>
              <a:srgbClr val="DCD3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1398270" y="8335804"/>
            <a:ext cx="6462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method · Goertzel DFT (GDFT), swept across all wavelengths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10852688" y="4810515"/>
            <a:ext cx="5250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Scanning across wavelengths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0917639" y="5787390"/>
            <a:ext cx="5120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GDFT response as the test length sweeps from short to long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1238250" y="762000"/>
            <a:ext cx="32512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02 · DETECTION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6094035" y="762000"/>
            <a:ext cx="103191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09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52487" y="1670685"/>
            <a:ext cx="1084183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2752487" y="1409700"/>
            <a:ext cx="116038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122420" y="140970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687020" y="14097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1238250" y="2635091"/>
            <a:ext cx="884301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250"/>
              <a:buFont typeface="Georgia"/>
              <a:buNone/>
            </a:pP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Peaks are the candidates.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9810750" y="1979295"/>
            <a:ext cx="7456170" cy="13606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325"/>
              <a:buFont typeface="Georgia"/>
              <a:buNone/>
            </a:pP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The sweep produces a spectrum: </a:t>
            </a:r>
            <a:r>
              <a:rPr b="1" i="0" lang="en-US" sz="23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strength vs cycle length </a:t>
            </a: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. Wherever the curve spikes, the data repeats strongly at that length — a candidate cycle worth keeping.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493520" y="3804761"/>
            <a:ext cx="752951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FIG 06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7108877" y="5622551"/>
            <a:ext cx="4070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Cycle-length spectrum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903708" y="6891576"/>
            <a:ext cx="648046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x = cycle length, y = strength — mark the peaks as candidates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/>
          <p:nvPr/>
        </p:nvSpPr>
        <p:spPr>
          <a:xfrm>
            <a:off x="1238250" y="762000"/>
            <a:ext cx="448423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02 · WHAT WE CAPTURE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6136422" y="762000"/>
            <a:ext cx="9895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10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2752487" y="1670685"/>
            <a:ext cx="1084183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2752487" y="1409700"/>
            <a:ext cx="116038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4122420" y="140970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687020" y="14097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238250" y="1979295"/>
            <a:ext cx="136207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250"/>
              <a:buFont typeface="Georgia"/>
              <a:buNone/>
            </a:pP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We want the cycle that's active </a:t>
            </a:r>
            <a:r>
              <a:rPr b="1" i="1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now</a:t>
            </a: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1238250" y="3775710"/>
            <a:ext cx="5715000" cy="1194435"/>
          </a:xfrm>
          <a:prstGeom prst="roundRect">
            <a:avLst>
              <a:gd fmla="val 4785" name="adj"/>
            </a:avLst>
          </a:prstGeom>
          <a:solidFill>
            <a:srgbClr val="FBF8F0"/>
          </a:solidFill>
          <a:ln cap="flat" cmpd="sng" w="9525">
            <a:solidFill>
              <a:srgbClr val="DCD3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1550670" y="4030980"/>
            <a:ext cx="5599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1550670" y="4343400"/>
            <a:ext cx="55991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How many bars one full swing takes.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238250" y="5122545"/>
            <a:ext cx="5715000" cy="1194435"/>
          </a:xfrm>
          <a:prstGeom prst="roundRect">
            <a:avLst>
              <a:gd fmla="val 4785" name="adj"/>
            </a:avLst>
          </a:prstGeom>
          <a:solidFill>
            <a:srgbClr val="FBF8F0"/>
          </a:solidFill>
          <a:ln cap="flat" cmpd="sng" w="9525">
            <a:solidFill>
              <a:srgbClr val="DCD3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1550670" y="5377815"/>
            <a:ext cx="55991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AMPLITUDE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1550670" y="5690235"/>
            <a:ext cx="559917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How big the swing is, peak to trough.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1238250" y="6469380"/>
            <a:ext cx="5715000" cy="1983105"/>
          </a:xfrm>
          <a:prstGeom prst="roundRect">
            <a:avLst>
              <a:gd fmla="val 2882" name="adj"/>
            </a:avLst>
          </a:prstGeom>
          <a:solidFill>
            <a:srgbClr val="2227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1543050" y="6717030"/>
            <a:ext cx="56159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86B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C2A86B"/>
                </a:solidFill>
                <a:latin typeface="Arial"/>
                <a:ea typeface="Arial"/>
                <a:cs typeface="Arial"/>
                <a:sym typeface="Arial"/>
              </a:rPr>
              <a:t>PHASE — AT THE LAST BAR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543050" y="7029450"/>
            <a:ext cx="5258562" cy="12134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EAD9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F0EAD9"/>
                </a:solidFill>
                <a:latin typeface="Georgia"/>
                <a:ea typeface="Georgia"/>
                <a:cs typeface="Georgia"/>
                <a:sym typeface="Georgia"/>
              </a:rPr>
              <a:t>A second pass on a </a:t>
            </a:r>
            <a:r>
              <a:rPr b="1" i="0" lang="en-US" sz="2250" u="none" cap="none" strike="noStrike">
                <a:solidFill>
                  <a:srgbClr val="F4EFE2"/>
                </a:solidFill>
                <a:latin typeface="Georgia"/>
                <a:ea typeface="Georgia"/>
                <a:cs typeface="Georgia"/>
                <a:sym typeface="Georgia"/>
              </a:rPr>
              <a:t>short recent window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Georgia"/>
                <a:ea typeface="Georgia"/>
                <a:cs typeface="Georgia"/>
                <a:sym typeface="Georgia"/>
              </a:rPr>
              <a:t>fixes where we are </a:t>
            </a:r>
            <a:r>
              <a:rPr b="0" i="1" lang="en-US" sz="2250" u="none" cap="none" strike="noStrike">
                <a:solidFill>
                  <a:srgbClr val="F0EAD9"/>
                </a:solidFill>
                <a:latin typeface="Georgia"/>
                <a:ea typeface="Georgia"/>
                <a:cs typeface="Georgia"/>
                <a:sym typeface="Georgia"/>
              </a:rPr>
              <a:t>now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Georgia"/>
                <a:ea typeface="Georgia"/>
                <a:cs typeface="Georgia"/>
                <a:sym typeface="Georgia"/>
              </a:rPr>
              <a:t>— not the historical average.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7627620" y="3473768"/>
            <a:ext cx="74211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FIG 07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15150941" y="3528060"/>
            <a:ext cx="104775" cy="104775"/>
          </a:xfrm>
          <a:prstGeom prst="roundRect">
            <a:avLst>
              <a:gd fmla="val 18182" name="adj"/>
            </a:avLst>
          </a:prstGeom>
          <a:noFill/>
          <a:ln cap="flat" cmpd="sng" w="15225">
            <a:solidFill>
              <a:srgbClr val="CBBF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9945491" y="5377828"/>
            <a:ext cx="4530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One cycle on recent price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8894272" y="6449378"/>
            <a:ext cx="663343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single detected cycle overlaid; mark its phase at the right edge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1238250" y="762000"/>
            <a:ext cx="33640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03 · VALIDATION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16185238" y="762000"/>
            <a:ext cx="9407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11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752487" y="140970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122420" y="1670685"/>
            <a:ext cx="1278850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4122420" y="1409700"/>
            <a:ext cx="1355050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687020" y="14097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1238250" y="3232666"/>
            <a:ext cx="7817205" cy="14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550"/>
              <a:buFont typeface="Georgia"/>
              <a:buNone/>
            </a:pPr>
            <a:r>
              <a:rPr b="1" i="0" lang="en-US" sz="55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Real rhythm, or coincidence?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1238250" y="4880729"/>
            <a:ext cx="7817205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Detection returns </a:t>
            </a:r>
            <a:r>
              <a:rPr b="0" i="1" lang="en-US" sz="240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everything </a:t>
            </a:r>
            <a:r>
              <a:rPr b="0" i="0" lang="en-US" sz="240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that looks periodic — including fakes. Validation is the gate that keeps only cycles with a </a:t>
            </a:r>
            <a:r>
              <a:rPr b="1" i="0" lang="en-US" sz="24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stable, repeating structure</a:t>
            </a:r>
            <a:r>
              <a:rPr b="0" i="0" lang="en-US" sz="240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1238250" y="6549509"/>
            <a:ext cx="83484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WHAT WE'RE FILTERING 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1238250" y="7000042"/>
            <a:ext cx="104775" cy="104775"/>
          </a:xfrm>
          <a:prstGeom prst="roundRect">
            <a:avLst>
              <a:gd fmla="val 18182" name="adj"/>
            </a:avLst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1495425" y="6911459"/>
            <a:ext cx="482475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175"/>
              <a:buFont typeface="Georgia"/>
              <a:buNone/>
            </a:pPr>
            <a:r>
              <a:rPr b="0" i="0" lang="en-US" sz="2175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Detrending artifacts from the HP filter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1238250" y="7396282"/>
            <a:ext cx="104775" cy="104775"/>
          </a:xfrm>
          <a:prstGeom prst="roundRect">
            <a:avLst>
              <a:gd fmla="val 18182" name="adj"/>
            </a:avLst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1495425" y="7307699"/>
            <a:ext cx="543035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175"/>
              <a:buFont typeface="Georgia"/>
              <a:buNone/>
            </a:pPr>
            <a:r>
              <a:rPr b="0" i="0" lang="en-US" sz="2175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One-time event spikes (a single news shock)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1238250" y="7792521"/>
            <a:ext cx="104775" cy="104775"/>
          </a:xfrm>
          <a:prstGeom prst="roundRect">
            <a:avLst>
              <a:gd fmla="val 18182" name="adj"/>
            </a:avLst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1495425" y="7703939"/>
            <a:ext cx="466130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175"/>
              <a:buFont typeface="Georgia"/>
              <a:buNone/>
            </a:pPr>
            <a:r>
              <a:rPr b="0" i="0" lang="en-US" sz="2175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Short-lived patterns that don't persist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9845040" y="2778443"/>
            <a:ext cx="753666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FIG 08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5150941" y="2832735"/>
            <a:ext cx="104775" cy="104775"/>
          </a:xfrm>
          <a:prstGeom prst="roundRect">
            <a:avLst>
              <a:gd fmla="val 18182" name="adj"/>
            </a:avLst>
          </a:prstGeom>
          <a:noFill/>
          <a:ln cap="flat" cmpd="sng" w="15225">
            <a:solidFill>
              <a:srgbClr val="CBBF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11475121" y="4404465"/>
            <a:ext cx="3689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Persistent vs one-off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10629284" y="5787390"/>
            <a:ext cx="538095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genuine cycle repeats every window; a fluke appears once and fades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/>
          <p:nvPr/>
        </p:nvSpPr>
        <p:spPr>
          <a:xfrm>
            <a:off x="1238250" y="762000"/>
            <a:ext cx="29897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03 · THE TEST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16155829" y="762000"/>
            <a:ext cx="97012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12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2752487" y="140970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4122420" y="1670685"/>
            <a:ext cx="1278850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4122420" y="1409700"/>
            <a:ext cx="1355050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5687020" y="14097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1238250" y="1979295"/>
            <a:ext cx="867270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250"/>
              <a:buFont typeface="Georgia"/>
              <a:buNone/>
            </a:pP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Test for persistence, not presence.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10191750" y="2008823"/>
            <a:ext cx="7063740" cy="13420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Slice the data into consecutive windows, each </a:t>
            </a:r>
            <a:r>
              <a:rPr b="1" i="0" lang="en-US" sz="2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one cycle-length long </a:t>
            </a:r>
            <a:r>
              <a:rPr b="0" i="0" lang="en-US" sz="225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, and ask: does the cycle reappear with the same amplitude and phase every time?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1607820" y="3930015"/>
            <a:ext cx="44817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GENUINE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1607820" y="4280535"/>
            <a:ext cx="4196548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Repeats consistently across </a:t>
            </a:r>
            <a:r>
              <a:rPr b="1" i="0" lang="en-US" sz="2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every </a:t>
            </a:r>
            <a:r>
              <a:rPr b="0" i="0" lang="en-US" sz="225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window — the same beat, window after window. Persistent.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6707029" y="3930015"/>
            <a:ext cx="448175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SPURIOUS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6707029" y="4280535"/>
            <a:ext cx="4196548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Strong in one window, gone in the next. Driven by a one-off event, not a real rhythm.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1798618" y="5540693"/>
            <a:ext cx="537810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86B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C2A86B"/>
                </a:solidFill>
                <a:latin typeface="Arial"/>
                <a:ea typeface="Arial"/>
                <a:cs typeface="Arial"/>
                <a:sym typeface="Arial"/>
              </a:rPr>
              <a:t>THE SCORE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11798618" y="5891213"/>
            <a:ext cx="5035858" cy="132969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EAD9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F0EAD9"/>
                </a:solidFill>
                <a:latin typeface="Georgia"/>
                <a:ea typeface="Georgia"/>
                <a:cs typeface="Georgia"/>
                <a:sym typeface="Georgia"/>
              </a:rPr>
              <a:t>A raw value from </a:t>
            </a:r>
            <a:r>
              <a:rPr b="1" i="0" lang="en-US" sz="2250" u="none" cap="none" strike="noStrike">
                <a:solidFill>
                  <a:srgbClr val="F4EFE2"/>
                </a:solidFill>
                <a:latin typeface="Georgia"/>
                <a:ea typeface="Georgia"/>
                <a:cs typeface="Georgia"/>
                <a:sym typeface="Georgia"/>
              </a:rPr>
              <a:t>0 to 1 </a:t>
            </a:r>
            <a:r>
              <a:rPr b="0" i="0" lang="en-US" sz="2250" u="none" cap="none" strike="noStrike">
                <a:solidFill>
                  <a:srgbClr val="F0EAD9"/>
                </a:solidFill>
                <a:latin typeface="Georgia"/>
                <a:ea typeface="Georgia"/>
                <a:cs typeface="Georgia"/>
                <a:sym typeface="Georgia"/>
              </a:rPr>
              <a:t>— the probability the pattern is pure chance. </a:t>
            </a:r>
            <a:r>
              <a:rPr b="1" i="0" lang="en-US" sz="2250" u="none" cap="none" strike="noStrike">
                <a:solidFill>
                  <a:srgbClr val="F4EFE2"/>
                </a:solidFill>
                <a:latin typeface="Georgia"/>
                <a:ea typeface="Georgia"/>
                <a:cs typeface="Georgia"/>
                <a:sym typeface="Georgia"/>
              </a:rPr>
              <a:t>Lower = more reliable.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11798618" y="7354253"/>
            <a:ext cx="537810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method · Bartels test of significance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/>
          <p:nvPr/>
        </p:nvSpPr>
        <p:spPr>
          <a:xfrm>
            <a:off x="1238250" y="762000"/>
            <a:ext cx="37780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03 · KEEP OR DROP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16146661" y="762000"/>
            <a:ext cx="97928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13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2752487" y="140970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4122420" y="1670685"/>
            <a:ext cx="1278850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4122420" y="1409700"/>
            <a:ext cx="1355050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687020" y="1409700"/>
            <a:ext cx="952262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A08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ABA088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1238250" y="2360771"/>
            <a:ext cx="765434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4950"/>
              <a:buFont typeface="Georgia"/>
              <a:buNone/>
            </a:pPr>
            <a:r>
              <a:rPr b="1" i="0" lang="en-US" sz="49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From raw score to a clear call.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1238250" y="3903821"/>
            <a:ext cx="7431405" cy="1421130"/>
          </a:xfrm>
          <a:prstGeom prst="roundRect">
            <a:avLst>
              <a:gd fmla="val 5362" name="adj"/>
            </a:avLst>
          </a:prstGeom>
          <a:solidFill>
            <a:srgbClr val="2227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1600200" y="4227671"/>
            <a:ext cx="737825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A86B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C2A86B"/>
                </a:solidFill>
                <a:latin typeface="Arial"/>
                <a:ea typeface="Arial"/>
                <a:cs typeface="Arial"/>
                <a:sym typeface="Arial"/>
              </a:rPr>
              <a:t>Genuine % = (1 − score) × 100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1600200" y="4627721"/>
            <a:ext cx="73782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3A88C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B3A88C"/>
                </a:solidFill>
                <a:latin typeface="Georgia"/>
                <a:ea typeface="Georgia"/>
                <a:cs typeface="Georgia"/>
                <a:sym typeface="Georgia"/>
              </a:rPr>
              <a:t>0% = random · 100% = rock-solid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1238250" y="5716900"/>
            <a:ext cx="23064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6300"/>
              <a:buFont typeface="Georgia"/>
              <a:buNone/>
            </a:pPr>
            <a:r>
              <a:rPr b="1" i="0" lang="en-US" sz="6300" u="none" cap="none" strike="noStrike">
                <a:solidFill>
                  <a:srgbClr val="2C5142"/>
                </a:solidFill>
                <a:latin typeface="Georgia"/>
                <a:ea typeface="Georgia"/>
                <a:cs typeface="Georgia"/>
                <a:sym typeface="Georgia"/>
              </a:rPr>
              <a:t>49%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544734" y="5553551"/>
            <a:ext cx="4098900" cy="1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5240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5A5240"/>
                </a:solidFill>
                <a:latin typeface="Georgia"/>
                <a:ea typeface="Georgia"/>
                <a:cs typeface="Georgia"/>
                <a:sym typeface="Georgia"/>
              </a:rPr>
              <a:t>the recommended cutoff — score below it and the cycle is discarded before any forecasting.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1238250" y="6977539"/>
            <a:ext cx="7431405" cy="1880235"/>
          </a:xfrm>
          <a:prstGeom prst="roundRect">
            <a:avLst>
              <a:gd fmla="val 3040" name="adj"/>
            </a:avLst>
          </a:prstGeom>
          <a:solidFill>
            <a:srgbClr val="ECE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1238250" y="8850154"/>
            <a:ext cx="7431405" cy="9525"/>
          </a:xfrm>
          <a:prstGeom prst="rect">
            <a:avLst/>
          </a:prstGeom>
          <a:solidFill>
            <a:srgbClr val="CDB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1238250" y="6977539"/>
            <a:ext cx="7431405" cy="9525"/>
          </a:xfrm>
          <a:prstGeom prst="rect">
            <a:avLst/>
          </a:prstGeom>
          <a:solidFill>
            <a:srgbClr val="CDB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1238250" y="6977539"/>
            <a:ext cx="45720" cy="1880235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8662035" y="6977539"/>
            <a:ext cx="9525" cy="1880235"/>
          </a:xfrm>
          <a:prstGeom prst="rect">
            <a:avLst/>
          </a:prstGeom>
          <a:solidFill>
            <a:srgbClr val="CDB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1550670" y="7194709"/>
            <a:ext cx="752913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TUNABLE FILTER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1550670" y="7499509"/>
            <a:ext cx="7050005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2025"/>
              <a:buFont typeface="Georgia"/>
              <a:buNone/>
            </a:pPr>
            <a:r>
              <a:rPr b="0" i="0" lang="en-US" sz="2025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The genuine score is a knob, not a verdict — </a:t>
            </a:r>
            <a:r>
              <a:rPr b="1" i="0" lang="en-US" sz="20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raise the cutoff </a:t>
            </a:r>
            <a:r>
              <a:rPr b="0" i="0" lang="en-US" sz="2025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to keep only the most reliable cycles, or </a:t>
            </a:r>
            <a:r>
              <a:rPr b="1" i="0" lang="en-US" sz="20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lower it </a:t>
            </a:r>
            <a:r>
              <a:rPr b="0" i="0" lang="en-US" sz="2025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to let more through.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1423144" y="4701540"/>
            <a:ext cx="3558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Genuineness scores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10415614" y="5787390"/>
            <a:ext cx="5573978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bar per candidate cycle vs % score, with the 49% cutoff line drawn 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/>
          <p:nvPr/>
        </p:nvSpPr>
        <p:spPr>
          <a:xfrm>
            <a:off x="1238250" y="762000"/>
            <a:ext cx="29238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04 · RANKING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16144875" y="762000"/>
            <a:ext cx="981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14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2752487" y="140970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4122420" y="140970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687020" y="1670685"/>
            <a:ext cx="876062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6"/>
          <p:cNvSpPr/>
          <p:nvPr/>
        </p:nvSpPr>
        <p:spPr>
          <a:xfrm>
            <a:off x="5687020" y="1409700"/>
            <a:ext cx="952262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1238250" y="2124075"/>
            <a:ext cx="90525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Biggest isn't strongest.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10001250" y="1979295"/>
            <a:ext cx="72599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A long, tall cycle can still be a weak day-to-day driver. What matters is </a:t>
            </a:r>
            <a:r>
              <a:rPr b="1" i="0" lang="en-US" sz="2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force per bar</a:t>
            </a:r>
            <a:r>
              <a:rPr b="0" i="0" lang="en-US" sz="2250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r>
              <a:rPr b="0" i="0" lang="en-US" sz="22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strength = amplitude ÷ length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1238250" y="4694396"/>
            <a:ext cx="7722900" cy="3614700"/>
          </a:xfrm>
          <a:prstGeom prst="roundRect">
            <a:avLst>
              <a:gd fmla="val 1581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1722120" y="5140166"/>
            <a:ext cx="74307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7A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8B97A6"/>
                </a:solidFill>
                <a:latin typeface="Courier New"/>
                <a:ea typeface="Courier New"/>
                <a:cs typeface="Courier New"/>
                <a:sym typeface="Courier New"/>
              </a:rPr>
              <a:t>CYCLE A — THE "BIGGER" ONE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1722120" y="5646897"/>
            <a:ext cx="987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9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7D8A99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1722120" y="5997416"/>
            <a:ext cx="9873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E141B"/>
                </a:solidFill>
                <a:latin typeface="Arial"/>
                <a:ea typeface="Arial"/>
                <a:cs typeface="Arial"/>
                <a:sym typeface="Arial"/>
              </a:rPr>
              <a:t>110</a:t>
            </a:r>
            <a:endParaRPr b="0" i="0" sz="4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3090505" y="5646897"/>
            <a:ext cx="1368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8A9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7D8A99"/>
                </a:solidFill>
                <a:latin typeface="Arial"/>
                <a:ea typeface="Arial"/>
                <a:cs typeface="Arial"/>
                <a:sym typeface="Arial"/>
              </a:rPr>
              <a:t>Amplitude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3090505" y="5997416"/>
            <a:ext cx="13683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E141B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4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1722120" y="6900386"/>
            <a:ext cx="6755100" cy="14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1722120" y="7429024"/>
            <a:ext cx="1947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Strength / bar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3644503" y="7162324"/>
            <a:ext cx="923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4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9AA6B4"/>
                </a:solidFill>
                <a:latin typeface="Arial"/>
                <a:ea typeface="Arial"/>
                <a:cs typeface="Arial"/>
                <a:sym typeface="Arial"/>
              </a:rPr>
              <a:t>2.7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9342120" y="4702016"/>
            <a:ext cx="7707600" cy="3599400"/>
          </a:xfrm>
          <a:prstGeom prst="roundRect">
            <a:avLst>
              <a:gd fmla="val 1588" name="adj"/>
            </a:avLst>
          </a:prstGeom>
          <a:solidFill>
            <a:srgbClr val="0E14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15624810" y="5063966"/>
            <a:ext cx="1044000" cy="403800"/>
          </a:xfrm>
          <a:prstGeom prst="roundRect">
            <a:avLst>
              <a:gd fmla="val 9434" name="adj"/>
            </a:avLst>
          </a:prstGeom>
          <a:solidFill>
            <a:srgbClr val="5B9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15758160" y="5140166"/>
            <a:ext cx="8535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41B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E141B"/>
                </a:solidFill>
                <a:latin typeface="Courier New"/>
                <a:ea typeface="Courier New"/>
                <a:cs typeface="Courier New"/>
                <a:sym typeface="Courier New"/>
              </a:rPr>
              <a:t>WINNER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9818370" y="5140166"/>
            <a:ext cx="74307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A9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7E8A98"/>
                </a:solidFill>
                <a:latin typeface="Courier New"/>
                <a:ea typeface="Courier New"/>
                <a:cs typeface="Courier New"/>
                <a:sym typeface="Courier New"/>
              </a:rPr>
              <a:t>CYCLE B — THE "SMALLER" ONE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9818370" y="5646897"/>
            <a:ext cx="891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6A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A96A4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9818370" y="5997416"/>
            <a:ext cx="891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b="0" i="0" sz="4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11090434" y="5646897"/>
            <a:ext cx="1368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6A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A96A4"/>
                </a:solidFill>
                <a:latin typeface="Arial"/>
                <a:ea typeface="Arial"/>
                <a:cs typeface="Arial"/>
                <a:sym typeface="Arial"/>
              </a:rPr>
              <a:t>Amplitude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11090434" y="5997416"/>
            <a:ext cx="13683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4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9818370" y="6900386"/>
            <a:ext cx="6755100" cy="14400"/>
          </a:xfrm>
          <a:prstGeom prst="rect">
            <a:avLst/>
          </a:prstGeom>
          <a:solidFill>
            <a:srgbClr val="222C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9818370" y="7429024"/>
            <a:ext cx="19470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9C6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AEB9C6"/>
                </a:solidFill>
                <a:latin typeface="Arial"/>
                <a:ea typeface="Arial"/>
                <a:cs typeface="Arial"/>
                <a:sym typeface="Arial"/>
              </a:rPr>
              <a:t>Strength / bar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11740753" y="7162324"/>
            <a:ext cx="923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5B9BFF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/>
          <p:nvPr/>
        </p:nvSpPr>
        <p:spPr>
          <a:xfrm>
            <a:off x="1238250" y="762000"/>
            <a:ext cx="27690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STEP 04 · OUTPUT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16143804" y="762000"/>
            <a:ext cx="98214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15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1238250" y="1409700"/>
            <a:ext cx="1304687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01 DETREND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2752487" y="1409700"/>
            <a:ext cx="1160383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02 DETECT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4122420" y="1409700"/>
            <a:ext cx="1355050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71F"/>
                </a:solidFill>
                <a:latin typeface="Arial"/>
                <a:ea typeface="Arial"/>
                <a:cs typeface="Arial"/>
                <a:sym typeface="Arial"/>
              </a:rPr>
              <a:t>03 VALIDATE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5687020" y="1670685"/>
            <a:ext cx="876062" cy="22860"/>
          </a:xfrm>
          <a:prstGeom prst="rect">
            <a:avLst/>
          </a:prstGeom>
          <a:solidFill>
            <a:srgbClr val="2C5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7"/>
          <p:cNvSpPr/>
          <p:nvPr/>
        </p:nvSpPr>
        <p:spPr>
          <a:xfrm>
            <a:off x="5687020" y="1409700"/>
            <a:ext cx="952262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04 RANK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1238250" y="1979295"/>
            <a:ext cx="82802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250"/>
              <a:buFont typeface="Georgia"/>
              <a:buNone/>
            </a:pPr>
            <a:r>
              <a:rPr b="1" i="0" lang="en-US" sz="52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Sort by strength. Take the top.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9810750" y="1990249"/>
            <a:ext cx="7456170" cy="13606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325"/>
              <a:buFont typeface="Georgia"/>
              <a:buNone/>
            </a:pP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Order the genuine cycles by strength per bar. The one at the top is the </a:t>
            </a:r>
            <a:r>
              <a:rPr b="1" i="0" lang="en-US" sz="23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dominant cycle </a:t>
            </a: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— the single output the whole engine is built to produce.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1493520" y="3815715"/>
            <a:ext cx="72044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FIG 10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5982745" y="5664653"/>
            <a:ext cx="6322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Genuine cycles, ranked by strength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6191703" y="6897053"/>
            <a:ext cx="590459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horizontal bars sorted high→low; highlight the top cycle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/>
          <p:nvPr/>
        </p:nvSpPr>
        <p:spPr>
          <a:xfrm>
            <a:off x="1238250" y="762000"/>
            <a:ext cx="18369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THE PAYOFF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16142255" y="762000"/>
            <a:ext cx="98369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F66"/>
              </a:buClr>
              <a:buSzPts val="1725"/>
              <a:buFont typeface="Arial"/>
              <a:buNone/>
            </a:pPr>
            <a:r>
              <a:rPr b="0" i="0" lang="en-US" sz="1725" u="none" cap="none" strike="noStrike">
                <a:solidFill>
                  <a:srgbClr val="8A7F66"/>
                </a:solidFill>
                <a:latin typeface="Arial"/>
                <a:ea typeface="Arial"/>
                <a:cs typeface="Arial"/>
                <a:sym typeface="Arial"/>
              </a:rPr>
              <a:t>16 / 16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1238250" y="1238250"/>
            <a:ext cx="15811500" cy="19050"/>
          </a:xfrm>
          <a:prstGeom prst="rect">
            <a:avLst/>
          </a:prstGeom>
          <a:solidFill>
            <a:srgbClr val="DCD3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>
            <a:off x="1238250" y="1581150"/>
            <a:ext cx="8084058" cy="14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71F"/>
              </a:buClr>
              <a:buSzPts val="5550"/>
              <a:buFont typeface="Georgia"/>
              <a:buNone/>
            </a:pPr>
            <a:r>
              <a:rPr b="1" i="0" lang="en-US" sz="5550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The dominant market vibration.</a:t>
            </a:r>
            <a:endParaRPr b="0" i="0" sz="5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9620250" y="1646158"/>
            <a:ext cx="7652385" cy="13544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63F32"/>
              </a:buClr>
              <a:buSzPts val="2325"/>
              <a:buFont typeface="Georgia"/>
              <a:buNone/>
            </a:pP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The winner gives you two things: its </a:t>
            </a:r>
            <a:r>
              <a:rPr b="1" i="0" lang="en-US" sz="23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length </a:t>
            </a: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(the rhythm) and its </a:t>
            </a:r>
            <a:r>
              <a:rPr b="1" i="0" lang="en-US" sz="2325" u="none" cap="none" strike="noStrike">
                <a:solidFill>
                  <a:srgbClr val="22271F"/>
                </a:solidFill>
                <a:latin typeface="Georgia"/>
                <a:ea typeface="Georgia"/>
                <a:cs typeface="Georgia"/>
                <a:sym typeface="Georgia"/>
              </a:rPr>
              <a:t>phase right now </a:t>
            </a:r>
            <a:r>
              <a:rPr b="0" i="0" lang="en-US" sz="2325" u="none" cap="none" strike="noStrike">
                <a:solidFill>
                  <a:srgbClr val="463F32"/>
                </a:solidFill>
                <a:latin typeface="Georgia"/>
                <a:ea typeface="Georgia"/>
                <a:cs typeface="Georgia"/>
                <a:sym typeface="Georgia"/>
              </a:rPr>
              <a:t>(where we sit in the swing) — enough to project it forward onto the right side of the chart.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1493520" y="3465433"/>
            <a:ext cx="69639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6005471" y="5287446"/>
            <a:ext cx="627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5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3A3528"/>
                </a:solidFill>
                <a:latin typeface="Georgia"/>
                <a:ea typeface="Georgia"/>
                <a:cs typeface="Georgia"/>
                <a:sym typeface="Georgia"/>
              </a:rPr>
              <a:t>Dominant cycle, projected forward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6053012" y="6373296"/>
            <a:ext cx="618185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E746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E7460"/>
                </a:solidFill>
                <a:latin typeface="Arial"/>
                <a:ea typeface="Arial"/>
                <a:cs typeface="Arial"/>
                <a:sym typeface="Arial"/>
              </a:rPr>
              <a:t>recent price + the winning cycle extended past the last bar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1493520" y="8562975"/>
            <a:ext cx="15300960" cy="28575"/>
          </a:xfrm>
          <a:prstGeom prst="rect">
            <a:avLst/>
          </a:prstGeom>
          <a:solidFill>
            <a:srgbClr val="E5D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/>
          <p:nvPr/>
        </p:nvSpPr>
        <p:spPr>
          <a:xfrm>
            <a:off x="1238250" y="9094470"/>
            <a:ext cx="1204793" cy="430530"/>
          </a:xfrm>
          <a:prstGeom prst="roundRect">
            <a:avLst>
              <a:gd fmla="val 8850" name="adj"/>
            </a:avLst>
          </a:prstGeom>
          <a:solidFill>
            <a:srgbClr val="ECE3D0"/>
          </a:solidFill>
          <a:ln cap="flat" cmpd="sng" w="9525">
            <a:solidFill>
              <a:srgbClr val="CDB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8"/>
          <p:cNvSpPr/>
          <p:nvPr/>
        </p:nvSpPr>
        <p:spPr>
          <a:xfrm>
            <a:off x="1417320" y="9187815"/>
            <a:ext cx="922853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Detrend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2557344" y="9094470"/>
            <a:ext cx="1062871" cy="430530"/>
          </a:xfrm>
          <a:prstGeom prst="roundRect">
            <a:avLst>
              <a:gd fmla="val 8850" name="adj"/>
            </a:avLst>
          </a:prstGeom>
          <a:solidFill>
            <a:srgbClr val="ECE3D0"/>
          </a:solidFill>
          <a:ln cap="flat" cmpd="sng" w="9525">
            <a:solidFill>
              <a:srgbClr val="CDB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2736414" y="9187815"/>
            <a:ext cx="780931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3734514" y="9094470"/>
            <a:ext cx="1207175" cy="430530"/>
          </a:xfrm>
          <a:prstGeom prst="roundRect">
            <a:avLst>
              <a:gd fmla="val 8850" name="adj"/>
            </a:avLst>
          </a:prstGeom>
          <a:solidFill>
            <a:srgbClr val="ECE3D0"/>
          </a:solidFill>
          <a:ln cap="flat" cmpd="sng" w="9525">
            <a:solidFill>
              <a:srgbClr val="CDB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8"/>
          <p:cNvSpPr/>
          <p:nvPr/>
        </p:nvSpPr>
        <p:spPr>
          <a:xfrm>
            <a:off x="3913584" y="9187815"/>
            <a:ext cx="92523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14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2C5142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5055989" y="9094470"/>
            <a:ext cx="2783681" cy="430530"/>
          </a:xfrm>
          <a:prstGeom prst="roundRect">
            <a:avLst>
              <a:gd fmla="val 8850" name="adj"/>
            </a:avLst>
          </a:prstGeom>
          <a:solidFill>
            <a:srgbClr val="22271F"/>
          </a:solidFill>
          <a:ln cap="flat" cmpd="sng" w="9525">
            <a:solidFill>
              <a:srgbClr val="2227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8"/>
          <p:cNvSpPr/>
          <p:nvPr/>
        </p:nvSpPr>
        <p:spPr>
          <a:xfrm>
            <a:off x="5235059" y="9187815"/>
            <a:ext cx="2509052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2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F4EFE2"/>
                </a:solidFill>
                <a:latin typeface="Arial"/>
                <a:ea typeface="Arial"/>
                <a:cs typeface="Arial"/>
                <a:sym typeface="Arial"/>
              </a:rPr>
              <a:t>Rank → dominant cycle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